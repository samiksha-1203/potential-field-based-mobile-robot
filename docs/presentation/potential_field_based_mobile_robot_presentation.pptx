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otham Bold" charset="1" panose="00000000000000000000"/>
      <p:regular r:id="rId16"/>
    </p:embeddedFont>
    <p:embeddedFont>
      <p:font typeface="Open Sauce Semi-Bold" charset="1" panose="00000700000000000000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Open Sans Bold" charset="1" panose="00000000000000000000"/>
      <p:regular r:id="rId20"/>
    </p:embeddedFont>
    <p:embeddedFont>
      <p:font typeface="Open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VAHY0UhEinI.mp4" Type="http://schemas.openxmlformats.org/officeDocument/2006/relationships/video"/><Relationship Id="rId4" Target="../media/VAHY0UhEinI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50" t="0" r="0" b="-70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58020" y="2881704"/>
            <a:ext cx="9929710" cy="2489043"/>
            <a:chOff x="0" y="0"/>
            <a:chExt cx="2775130" cy="695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5130" cy="695631"/>
            </a:xfrm>
            <a:custGeom>
              <a:avLst/>
              <a:gdLst/>
              <a:ahLst/>
              <a:cxnLst/>
              <a:rect r="r" b="b" t="t" l="l"/>
              <a:pathLst>
                <a:path h="695631" w="2775130">
                  <a:moveTo>
                    <a:pt x="0" y="0"/>
                  </a:moveTo>
                  <a:lnTo>
                    <a:pt x="2775130" y="0"/>
                  </a:lnTo>
                  <a:lnTo>
                    <a:pt x="2775130" y="695631"/>
                  </a:lnTo>
                  <a:lnTo>
                    <a:pt x="0" y="695631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75130" cy="733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53491" y="5225025"/>
            <a:ext cx="249282" cy="2492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53491" y="2786394"/>
            <a:ext cx="249282" cy="2492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42209" y="5225025"/>
            <a:ext cx="249282" cy="2492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42209" y="2786394"/>
            <a:ext cx="249282" cy="2492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592718" y="2759451"/>
            <a:ext cx="9459544" cy="249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57"/>
              </a:lnSpc>
            </a:pPr>
            <a:r>
              <a:rPr lang="en-US" b="true" sz="14612" spc="-116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ROBOT</a:t>
            </a:r>
            <a:r>
              <a:rPr lang="en-US" b="true" sz="14612" spc="-116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86450" y="5999815"/>
            <a:ext cx="9872850" cy="54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Potential Field-Based Mob</a:t>
            </a:r>
            <a:r>
              <a:rPr lang="en-US" b="true" sz="3199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ile Robot Navigation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04954" y="7042338"/>
            <a:ext cx="8152456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u="sng" b="true">
                <a:solidFill>
                  <a:srgbClr val="FDF4C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Prepared By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1897" y="7823876"/>
            <a:ext cx="8152456" cy="8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DF4CF"/>
                </a:solidFill>
                <a:latin typeface="Open Sauce"/>
                <a:ea typeface="Open Sauce"/>
                <a:cs typeface="Open Sauce"/>
                <a:sym typeface="Open Sauce"/>
              </a:rPr>
              <a:t>Christina Esther   Taniya Renjarla   Nandini Yedelli    Samiksha Chavan    Jagruti Thotam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2534158"/>
            <a:ext cx="7315200" cy="1037428"/>
          </a:xfrm>
          <a:custGeom>
            <a:avLst/>
            <a:gdLst/>
            <a:ahLst/>
            <a:cxnLst/>
            <a:rect r="r" b="b" t="t" l="l"/>
            <a:pathLst>
              <a:path h="1037428" w="7315200">
                <a:moveTo>
                  <a:pt x="0" y="0"/>
                </a:moveTo>
                <a:lnTo>
                  <a:pt x="7315200" y="0"/>
                </a:lnTo>
                <a:lnTo>
                  <a:pt x="7315200" y="1037429"/>
                </a:lnTo>
                <a:lnTo>
                  <a:pt x="0" y="1037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0067" y="3684312"/>
            <a:ext cx="16836203" cy="6045617"/>
            <a:chOff x="0" y="0"/>
            <a:chExt cx="4434226" cy="15922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34226" cy="1592261"/>
            </a:xfrm>
            <a:custGeom>
              <a:avLst/>
              <a:gdLst/>
              <a:ahLst/>
              <a:cxnLst/>
              <a:rect r="r" b="b" t="t" l="l"/>
              <a:pathLst>
                <a:path h="1592261" w="4434226">
                  <a:moveTo>
                    <a:pt x="0" y="0"/>
                  </a:moveTo>
                  <a:lnTo>
                    <a:pt x="4434226" y="0"/>
                  </a:lnTo>
                  <a:lnTo>
                    <a:pt x="4434226" y="1592261"/>
                  </a:lnTo>
                  <a:lnTo>
                    <a:pt x="0" y="1592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34226" cy="163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58668" y="949767"/>
            <a:ext cx="14210319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PROJECT DESCRIPT</a:t>
            </a: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9219" y="3800669"/>
            <a:ext cx="16497051" cy="597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b="true">
                <a:solidFill>
                  <a:srgbClr val="11111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Introduction:</a:t>
            </a: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 Autonomous mobile r</a:t>
            </a: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obots need to navigate through an environment, reach a target location, and avoid obstacles along the way.</a:t>
            </a:r>
          </a:p>
          <a:p>
            <a:pPr algn="l">
              <a:lnSpc>
                <a:spcPts val="3429"/>
              </a:lnSpc>
            </a:pPr>
            <a:r>
              <a:rPr lang="en-US" sz="2449" b="true">
                <a:solidFill>
                  <a:srgbClr val="11111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statement:</a:t>
            </a: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 Navigation becomes more challenging when the environment contains both stationary obstacles and moving obstacles whose positions change over time.</a:t>
            </a:r>
          </a:p>
          <a:p>
            <a:pPr algn="l">
              <a:lnSpc>
                <a:spcPts val="3429"/>
              </a:lnSpc>
            </a:pPr>
            <a:r>
              <a:rPr lang="en-US" sz="2449" b="true">
                <a:solidFill>
                  <a:srgbClr val="11111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 solution:</a:t>
            </a: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 This project uses the Artificial Potential Field algorithm to guide a simulated robot toward its goal while generating avoidance forces around nearby obstacles.</a:t>
            </a:r>
          </a:p>
          <a:p>
            <a:pPr algn="l">
              <a:lnSpc>
                <a:spcPts val="3429"/>
              </a:lnSpc>
            </a:pPr>
            <a:r>
              <a:rPr lang="en-US" sz="2449" b="true">
                <a:solidFill>
                  <a:srgbClr val="11111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Objectives:</a:t>
            </a:r>
          </a:p>
          <a:p>
            <a:pPr algn="l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Develop a MATLAB-based robot navigation simulation.</a:t>
            </a:r>
          </a:p>
          <a:p>
            <a:pPr algn="l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Implement attractive, repulsive, and tangential forces.</a:t>
            </a:r>
          </a:p>
          <a:p>
            <a:pPr algn="l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Simulate three static and two moving obstacles.</a:t>
            </a:r>
          </a:p>
          <a:p>
            <a:pPr algn="l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Predict the future positions of moving obstacles.</a:t>
            </a:r>
          </a:p>
          <a:p>
            <a:pPr algn="l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Perform collision checking before robot movement.</a:t>
            </a:r>
          </a:p>
          <a:p>
            <a:pPr algn="l" marL="528954" indent="-264477" lvl="1">
              <a:lnSpc>
                <a:spcPts val="3429"/>
              </a:lnSpc>
              <a:buFont typeface="Arial"/>
              <a:buChar char="•"/>
            </a:pPr>
            <a:r>
              <a:rPr lang="en-US" sz="2449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Visualize the robot trajectory and analyze navigation performance.</a:t>
            </a:r>
          </a:p>
          <a:p>
            <a:pPr algn="l">
              <a:lnSpc>
                <a:spcPts val="342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1982" y="2058663"/>
            <a:ext cx="11868378" cy="7912252"/>
          </a:xfrm>
          <a:custGeom>
            <a:avLst/>
            <a:gdLst/>
            <a:ahLst/>
            <a:cxnLst/>
            <a:rect r="r" b="b" t="t" l="l"/>
            <a:pathLst>
              <a:path h="7912252" w="11868378">
                <a:moveTo>
                  <a:pt x="0" y="0"/>
                </a:moveTo>
                <a:lnTo>
                  <a:pt x="11868378" y="0"/>
                </a:lnTo>
                <a:lnTo>
                  <a:pt x="11868378" y="7912252"/>
                </a:lnTo>
                <a:lnTo>
                  <a:pt x="0" y="7912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80980" y="664858"/>
            <a:ext cx="13526040" cy="267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BLO</a:t>
            </a: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CK DIAGRAM</a:t>
            </a:r>
          </a:p>
          <a:p>
            <a:pPr algn="ctr">
              <a:lnSpc>
                <a:spcPts val="102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36776" y="1873586"/>
            <a:ext cx="14389740" cy="8031274"/>
          </a:xfrm>
          <a:custGeom>
            <a:avLst/>
            <a:gdLst/>
            <a:ahLst/>
            <a:cxnLst/>
            <a:rect r="r" b="b" t="t" l="l"/>
            <a:pathLst>
              <a:path h="8031274" w="14389740">
                <a:moveTo>
                  <a:pt x="0" y="0"/>
                </a:moveTo>
                <a:lnTo>
                  <a:pt x="14389740" y="0"/>
                </a:lnTo>
                <a:lnTo>
                  <a:pt x="14389740" y="8031274"/>
                </a:lnTo>
                <a:lnTo>
                  <a:pt x="0" y="8031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7155" y="420688"/>
            <a:ext cx="1135369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FLOW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579" y="419498"/>
            <a:ext cx="17651054" cy="3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2"/>
              </a:lnSpc>
            </a:pPr>
            <a:r>
              <a:rPr lang="en-US" b="true" sz="9400" spc="-75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COMPONENTS USED</a:t>
            </a:r>
            <a:r>
              <a:rPr lang="en-US" b="true" sz="9400" spc="-75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AND THEIR IMPORTANCE</a:t>
            </a:r>
          </a:p>
          <a:p>
            <a:pPr algn="l">
              <a:lnSpc>
                <a:spcPts val="9682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6579" y="3201140"/>
            <a:ext cx="443729" cy="663389"/>
          </a:xfrm>
          <a:custGeom>
            <a:avLst/>
            <a:gdLst/>
            <a:ahLst/>
            <a:cxnLst/>
            <a:rect r="r" b="b" t="t" l="l"/>
            <a:pathLst>
              <a:path h="663389" w="443729">
                <a:moveTo>
                  <a:pt x="0" y="0"/>
                </a:moveTo>
                <a:lnTo>
                  <a:pt x="443729" y="0"/>
                </a:lnTo>
                <a:lnTo>
                  <a:pt x="443729" y="663389"/>
                </a:lnTo>
                <a:lnTo>
                  <a:pt x="0" y="663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8443" y="3048740"/>
            <a:ext cx="17010794" cy="751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MATLAB: programming, numerical computation, simulation, and visualization.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Artificial Potential Field algorithm: guides the robot toward the goal and away from obstacles.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Attractive force: pulls the robot toward the target.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Repulsive force: pushes the robot away from nearby obstacles.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Tangential force: helps the robot move ar</a:t>
            </a: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ound obstacles.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Moving-obstacle prediction: estimates future obstacle positions using velocity and a look-ahead time.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Collision detection: checks whether the proposed robot position is safe.</a:t>
            </a:r>
          </a:p>
          <a:p>
            <a:pPr algn="just" marL="690864" indent="-345432" lvl="1">
              <a:lnSpc>
                <a:spcPts val="495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Graphical visualization: displays the robot path, obstacles, force vectors, and performance graphs.</a:t>
            </a:r>
          </a:p>
          <a:p>
            <a:pPr algn="just">
              <a:lnSpc>
                <a:spcPts val="49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53648" y="1492469"/>
            <a:ext cx="17637494" cy="803710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-661371" y="340703"/>
            <a:ext cx="19610743" cy="119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3"/>
              </a:lnSpc>
            </a:pPr>
            <a:r>
              <a:rPr lang="en-US" b="true" sz="8799" spc="-70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WORKING PROJECT PROTOTYPE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080" y="2274933"/>
            <a:ext cx="9033868" cy="6488700"/>
          </a:xfrm>
          <a:custGeom>
            <a:avLst/>
            <a:gdLst/>
            <a:ahLst/>
            <a:cxnLst/>
            <a:rect r="r" b="b" t="t" l="l"/>
            <a:pathLst>
              <a:path h="6488700" w="9033868">
                <a:moveTo>
                  <a:pt x="0" y="0"/>
                </a:moveTo>
                <a:lnTo>
                  <a:pt x="9033868" y="0"/>
                </a:lnTo>
                <a:lnTo>
                  <a:pt x="9033868" y="6488700"/>
                </a:lnTo>
                <a:lnTo>
                  <a:pt x="0" y="648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9208" y="2515154"/>
            <a:ext cx="6698527" cy="6008258"/>
          </a:xfrm>
          <a:custGeom>
            <a:avLst/>
            <a:gdLst/>
            <a:ahLst/>
            <a:cxnLst/>
            <a:rect r="r" b="b" t="t" l="l"/>
            <a:pathLst>
              <a:path h="6008258" w="6698527">
                <a:moveTo>
                  <a:pt x="0" y="0"/>
                </a:moveTo>
                <a:lnTo>
                  <a:pt x="6698526" y="0"/>
                </a:lnTo>
                <a:lnTo>
                  <a:pt x="6698526" y="6008258"/>
                </a:lnTo>
                <a:lnTo>
                  <a:pt x="0" y="600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86540" y="672411"/>
            <a:ext cx="1411491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707">
                <a:alpha val="100000"/>
              </a:srgbClr>
            </a:gs>
            <a:gs pos="25000">
              <a:srgbClr val="0F0F0F">
                <a:alpha val="100000"/>
              </a:srgbClr>
            </a:gs>
            <a:gs pos="50000">
              <a:srgbClr val="1B1B1B">
                <a:alpha val="100000"/>
              </a:srgbClr>
            </a:gs>
            <a:gs pos="75000">
              <a:srgbClr val="2C2C2C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081" y="2244689"/>
            <a:ext cx="6723539" cy="5975200"/>
          </a:xfrm>
          <a:custGeom>
            <a:avLst/>
            <a:gdLst/>
            <a:ahLst/>
            <a:cxnLst/>
            <a:rect r="r" b="b" t="t" l="l"/>
            <a:pathLst>
              <a:path h="5975200" w="6723539">
                <a:moveTo>
                  <a:pt x="0" y="0"/>
                </a:moveTo>
                <a:lnTo>
                  <a:pt x="6723540" y="0"/>
                </a:lnTo>
                <a:lnTo>
                  <a:pt x="6723540" y="5975200"/>
                </a:lnTo>
                <a:lnTo>
                  <a:pt x="0" y="597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65442" y="2040836"/>
            <a:ext cx="10847943" cy="6665024"/>
          </a:xfrm>
          <a:custGeom>
            <a:avLst/>
            <a:gdLst/>
            <a:ahLst/>
            <a:cxnLst/>
            <a:rect r="r" b="b" t="t" l="l"/>
            <a:pathLst>
              <a:path h="6665024" w="10847943">
                <a:moveTo>
                  <a:pt x="0" y="0"/>
                </a:moveTo>
                <a:lnTo>
                  <a:pt x="10847943" y="0"/>
                </a:lnTo>
                <a:lnTo>
                  <a:pt x="10847943" y="6665024"/>
                </a:lnTo>
                <a:lnTo>
                  <a:pt x="0" y="666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86540" y="672411"/>
            <a:ext cx="14114919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b="true" sz="9999" spc="-7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0461" y="4572003"/>
            <a:ext cx="249282" cy="2492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70461" y="2133372"/>
            <a:ext cx="249282" cy="2492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5" y="2142897"/>
            <a:ext cx="18288000" cy="8153628"/>
            <a:chOff x="0" y="0"/>
            <a:chExt cx="24384000" cy="10871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030875"/>
              <a:ext cx="24384000" cy="9840629"/>
            </a:xfrm>
            <a:custGeom>
              <a:avLst/>
              <a:gdLst/>
              <a:ahLst/>
              <a:cxnLst/>
              <a:rect r="r" b="b" t="t" l="l"/>
              <a:pathLst>
                <a:path h="984062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840629"/>
                  </a:lnTo>
                  <a:lnTo>
                    <a:pt x="0" y="984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358" r="0" b="-13853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3058223" y="127080"/>
              <a:ext cx="18268579" cy="3318724"/>
              <a:chOff x="0" y="0"/>
              <a:chExt cx="3829242" cy="69563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29242" cy="695631"/>
              </a:xfrm>
              <a:custGeom>
                <a:avLst/>
                <a:gdLst/>
                <a:ahLst/>
                <a:cxnLst/>
                <a:rect r="r" b="b" t="t" l="l"/>
                <a:pathLst>
                  <a:path h="695631" w="3829242">
                    <a:moveTo>
                      <a:pt x="0" y="0"/>
                    </a:moveTo>
                    <a:lnTo>
                      <a:pt x="3829242" y="0"/>
                    </a:lnTo>
                    <a:lnTo>
                      <a:pt x="3829242" y="695631"/>
                    </a:lnTo>
                    <a:lnTo>
                      <a:pt x="0" y="695631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829242" cy="7337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918734" y="3251508"/>
              <a:ext cx="332375" cy="33237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918734" y="0"/>
              <a:ext cx="332375" cy="33237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2638031" y="2068329"/>
            <a:ext cx="13011938" cy="279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0"/>
              </a:lnSpc>
            </a:pPr>
            <a:r>
              <a:rPr lang="en-US" b="true" sz="16314" spc="-1305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DAHYwEL2KEc</dc:identifier>
  <dcterms:modified xsi:type="dcterms:W3CDTF">2011-08-01T06:04:30Z</dcterms:modified>
  <cp:revision>1</cp:revision>
  <dc:title>PFBMR</dc:title>
</cp:coreProperties>
</file>